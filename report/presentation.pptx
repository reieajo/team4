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1인가구 총계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관악구</c:v>
                </c:pt>
                <c:pt idx="1">
                  <c:v>강서구</c:v>
                </c:pt>
                <c:pt idx="2">
                  <c:v>강남구</c:v>
                </c:pt>
                <c:pt idx="3">
                  <c:v>동작구</c:v>
                </c:pt>
                <c:pt idx="4">
                  <c:v>영등포구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186002</c:v>
                </c:pt>
                <c:pt idx="1">
                  <c:v>128965</c:v>
                </c:pt>
                <c:pt idx="2">
                  <c:v>97631</c:v>
                </c:pt>
                <c:pt idx="3">
                  <c:v>91790</c:v>
                </c:pt>
                <c:pt idx="4">
                  <c:v>98382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소비 비중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외식업(음식)</c:v>
                </c:pt>
                <c:pt idx="1">
                  <c:v>소매업(식료품 등)</c:v>
                </c:pt>
                <c:pt idx="2">
                  <c:v>서비스업(여가)</c:v>
                </c:pt>
                <c:pt idx="3">
                  <c:v>기타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폐업률(%)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네일숍</c:v>
                </c:pt>
                <c:pt idx="1">
                  <c:v>반찬가게</c:v>
                </c:pt>
                <c:pt idx="2">
                  <c:v>세탁소</c:v>
                </c:pt>
                <c:pt idx="3">
                  <c:v>미용실</c:v>
                </c:pt>
                <c:pt idx="4">
                  <c:v>슈퍼마켓</c:v>
                </c:pt>
                <c:pt idx="5">
                  <c:v>피부관리실</c:v>
                </c:pt>
                <c:pt idx="6">
                  <c:v>사진관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1.65</c:v>
                </c:pt>
                <c:pt idx="1">
                  <c:v>1.95</c:v>
                </c:pt>
                <c:pt idx="2">
                  <c:v>2.5</c:v>
                </c:pt>
                <c:pt idx="3">
                  <c:v>2.6</c:v>
                </c:pt>
                <c:pt idx="4">
                  <c:v>2.7</c:v>
                </c:pt>
                <c:pt idx="5">
                  <c:v>2.85</c:v>
                </c:pt>
                <c:pt idx="6">
                  <c:v>2.95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7315200" cy="4572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서울시 1인가구 상권 분석 및 창업 입지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000" b="0">
                <a:solidFill>
                  <a:srgbClr val="F9E795"/>
                </a:solidFill>
                <a:latin typeface="Malgun Gothic"/>
              </a:defRPr>
            </a:pPr>
            <a:r>
              <a:t>유동인구 대비 실매출 분석을 중심으로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400" b="0">
                <a:solidFill>
                  <a:srgbClr val="FFFFFF"/>
                </a:solidFill>
                <a:latin typeface="Malgun Gothic"/>
              </a:defRPr>
            </a:pPr>
            <a:r>
              <a:t>팀명: [TBD]</a:t>
            </a:r>
            <a:br/>
            <a:r>
              <a:t>팀원: [TBD]</a:t>
            </a:r>
            <a:br/>
            <a:r>
              <a:t>날짜: 2026. 05.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800" b="1">
                <a:solidFill>
                  <a:srgbClr val="1E2761"/>
                </a:solidFill>
                <a:latin typeface="Malgun Gothic"/>
              </a:defRPr>
            </a:pPr>
            <a:r>
              <a:t>목차 (Contents)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>
                <a:solidFill>
                  <a:srgbClr val="363636"/>
                </a:solidFill>
                <a:latin typeface="Malgun Gothic"/>
              </a:defRPr>
            </a:pPr>
            <a:r>
              <a:t>1.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>
                <a:solidFill>
                  <a:srgbClr val="363636"/>
                </a:solidFill>
                <a:latin typeface="Malgun Gothic"/>
              </a:defRPr>
            </a:pPr>
            <a:r>
              <a:t>2. 분석 배경 및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>
                <a:solidFill>
                  <a:srgbClr val="363636"/>
                </a:solidFill>
                <a:latin typeface="Malgun Gothic"/>
              </a:defRPr>
            </a:pPr>
            <a:r>
              <a:t>3. 데이터 소개 (데이터 개요 및 전처리 요약)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>
                <a:solidFill>
                  <a:srgbClr val="363636"/>
                </a:solidFill>
                <a:latin typeface="Malgun Gothic"/>
              </a:defRPr>
            </a:pPr>
            <a:r>
              <a:t>4. 분석 결과 및 인사이트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>
                <a:solidFill>
                  <a:srgbClr val="363636"/>
                </a:solidFill>
                <a:latin typeface="Malgun Gothic"/>
              </a:defRPr>
            </a:pPr>
            <a:r>
              <a:t>5. 결론 및 비즈니스 액션플랜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Part 1. 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000" b="1">
                <a:solidFill>
                  <a:srgbClr val="F96167"/>
                </a:solidFill>
                <a:latin typeface="Malgun Gothic"/>
              </a:defRPr>
            </a:pPr>
            <a:r>
              <a:t>Problem Definition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1E2761"/>
                </a:solidFill>
                <a:latin typeface="Malgun Gothic"/>
              </a:defRPr>
            </a:pPr>
            <a:r>
              <a:t>분석 배경 및 목적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0">
                <a:solidFill>
                  <a:srgbClr val="363636"/>
                </a:solidFill>
                <a:latin typeface="Malgun Gothic"/>
              </a:defRPr>
            </a:pPr>
            <a:r>
              <a:t>분석 배경</a:t>
            </a:r>
            <a:br/>
            <a:r>
              <a:t>• 1인가구 비중 급증으로 상권 구조 변화</a:t>
            </a:r>
            <a:br/>
            <a:r>
              <a:t>• 유동인구가 많은 상권이 반드시 생존율이 높지 않다는 '유동인구의 함정' 가설 대두</a:t>
            </a:r>
            <a:br/>
            <a:br/>
            <a:r>
              <a:t>분석 목적</a:t>
            </a:r>
            <a:br/>
            <a:r>
              <a:t>• 1인가구 밀집 지역 데이터를 기반으로 가장 생존율이 높은(낮은 폐업률) 창업 입지 도출</a:t>
            </a:r>
            <a:br/>
            <a:r>
              <a:t>• 해당 상권 내 가장 유리한 비즈니스 아이템(업종) 제안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Part 2. 데이터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000" b="1">
                <a:solidFill>
                  <a:srgbClr val="F96167"/>
                </a:solidFill>
                <a:latin typeface="Malgun Gothic"/>
              </a:defRPr>
            </a:pPr>
            <a:r>
              <a:t>Data Introduction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1E2761"/>
                </a:solidFill>
                <a:latin typeface="Malgun Gothic"/>
              </a:defRPr>
            </a:pPr>
            <a:r>
              <a:t>데이터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>
                <a:solidFill>
                  <a:srgbClr val="363636"/>
                </a:solidFill>
                <a:latin typeface="Malgun Gothic"/>
              </a:defRPr>
            </a:pPr>
            <a:r>
              <a:t>• 데이터 출처: 서울시 우리마을가게 상권분석서비스 공공데이터</a:t>
            </a:r>
            <a:br/>
            <a:r>
              <a:t>• 수집 기간: 2022년 ~ 2023년</a:t>
            </a:r>
            <a:br/>
            <a:r>
              <a:t>• 분석 대상: 서울시 1인가구 밀집 주요 행정동 236개 상권</a:t>
            </a:r>
            <a:br/>
            <a:r>
              <a:t>• 데이터 크기: 236개 레코드, 5개 수치형 컬럼 및 파생변수</a:t>
            </a:r>
            <a:br/>
            <a:br/>
            <a:r>
              <a:t>주요 지표 분포 요약</a:t>
            </a:r>
            <a:br/>
            <a:r>
              <a:t>• 1인가구 분포는 상위 지역에 극도로 밀집 (최대 18,557명)</a:t>
            </a:r>
            <a:br/>
            <a:r>
              <a:t>• 폐업률은 평균 2.7% 수준이나, 최대 5.7%까지 치솟는 고위험 지역 존재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1E2761"/>
                </a:solidFill>
                <a:latin typeface="Malgun Gothic"/>
              </a:defRPr>
            </a:pPr>
            <a:r>
              <a:t>데이터 전처리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>
                <a:solidFill>
                  <a:srgbClr val="1E2761"/>
                </a:solidFill>
                <a:latin typeface="Malgun Gothic"/>
              </a:defRPr>
            </a:pPr>
            <a:r>
              <a:t>신뢰도 확보를 위한 전처리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>
                <a:solidFill>
                  <a:srgbClr val="363636"/>
                </a:solidFill>
                <a:latin typeface="Malgun Gothic"/>
              </a:defRPr>
            </a:pPr>
            <a:r>
              <a:t>1. 결측치 처리</a:t>
            </a:r>
            <a:br/>
            <a:r>
              <a:t>   - 핵심 지표 누락이 있는 결측치는 분석 대상에서 제외하여 데이터 무결성 확보</a:t>
            </a:r>
            <a:br/>
            <a:br/>
            <a:r>
              <a:t>2. 이상치(Outlier) 보정</a:t>
            </a:r>
            <a:br/>
            <a:r>
              <a:t>   - 상위 5% 극단적 매출액 및 유동인구에 IQR(Interquartile Range) 방식 적용</a:t>
            </a:r>
            <a:br/>
            <a:r>
              <a:t>   - 1.5 × IQR 범위를 벗어나는 데이터를 보정하여 통계적 왜곡 방지</a:t>
            </a:r>
            <a:br/>
            <a:br/>
            <a:r>
              <a:t>3. 파생변수 생성</a:t>
            </a:r>
            <a:br/>
            <a:r>
              <a:t>   - 주말 매출 비율, 2030세대 비율, 여성 비율 등 분석용 파생변수 도출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Part 3. 분석 결과 및 인사이트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000" b="1">
                <a:solidFill>
                  <a:srgbClr val="F96167"/>
                </a:solidFill>
                <a:latin typeface="Malgun Gothic"/>
              </a:defRPr>
            </a:pPr>
            <a:r>
              <a:t>Analysis Results &amp;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1E2761"/>
                </a:solidFill>
                <a:latin typeface="Malgun Gothic"/>
              </a:defRPr>
            </a:pPr>
            <a:r>
              <a:t>배후 수요 파악: 자치구별 1인가구 밀집도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363636"/>
                </a:solidFill>
                <a:latin typeface="Malgun Gothic"/>
              </a:defRPr>
            </a:pPr>
            <a:r>
              <a:t>관악구, 강남구, 강서구 등 상위 3개 자치구의 1인가구 수가 서울 평균 대비 2배 이상 높음.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45920"/>
          <a:ext cx="8229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1E2761"/>
                </a:solidFill>
                <a:latin typeface="Malgun Gothic"/>
              </a:defRPr>
            </a:pPr>
            <a:r>
              <a:t>1인가구 핵심 소비 카테고리 (Top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363636"/>
                </a:solidFill>
                <a:latin typeface="Malgun Gothic"/>
              </a:defRPr>
            </a:pPr>
            <a:r>
              <a:t>지역 내 소비액의 70% 이상이 '음식(외식 및 배달)'과 '식료품(편의점)'에 집중되어 있음.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828800" y="1645920"/>
          <a:ext cx="54864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1E2761"/>
                </a:solidFill>
                <a:latin typeface="Malgun Gothic"/>
              </a:defRPr>
            </a:pPr>
            <a:r>
              <a:t>유동인구의 함정: 사람이 많다고 돈을 버는가?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84048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>
                <a:solidFill>
                  <a:srgbClr val="1E2761"/>
                </a:solidFill>
                <a:latin typeface="Malgun Gothic"/>
              </a:defRPr>
            </a:pPr>
            <a:r>
              <a:t>상관관계 분석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>
                <a:solidFill>
                  <a:srgbClr val="363636"/>
                </a:solidFill>
                <a:latin typeface="Malgun Gothic"/>
              </a:defRPr>
            </a:pPr>
            <a:r>
              <a:t>• 매출액과 폐업률: 강한 음의 상관관계 (r &lt; -0.5)</a:t>
            </a:r>
            <a:br/>
            <a:r>
              <a:t>• 유동인구와 폐업률: 상관관계 미미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371600"/>
            <a:ext cx="384048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>
                <a:solidFill>
                  <a:srgbClr val="F96167"/>
                </a:solidFill>
                <a:latin typeface="Malgun Gothic"/>
              </a:defRPr>
            </a:pPr>
            <a:r>
              <a:t>핵심 인사이트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0">
                <a:solidFill>
                  <a:srgbClr val="363636"/>
                </a:solidFill>
                <a:latin typeface="Malgun Gothic"/>
              </a:defRPr>
            </a:pPr>
            <a:r>
              <a:t>유동인구가 많은 비싼 대로변 상권보다,</a:t>
            </a:r>
            <a:br/>
            <a:br/>
            <a:r>
              <a:t>실결제 매출액이 높으면서 임대료가 합리적인 '이면도로(골목)' 점포가 생존에 훨씬 유리합니다.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1E2761"/>
                </a:solidFill>
                <a:latin typeface="Malgun Gothic"/>
              </a:defRPr>
            </a:pPr>
            <a:r>
              <a:t>추천 입지 Top 5 (1인가구 및 실매출 기반)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363636"/>
                </a:solidFill>
                <a:latin typeface="Malgun Gothic"/>
              </a:defRPr>
            </a:pPr>
            <a:r>
              <a:t>매출 볼륨이 크고 폐업률이 낮아 안정성이 높은 1인가구 밀집 지역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행정동명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1인가구 총계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당월 매출액(만원)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폐업률(%)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서교동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10,405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654,812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2.13%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역삼1동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17,721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928,476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2.32%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문정2동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8,963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281,619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2.33%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가산동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14,731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1,425,070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2.86%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영등포동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17,144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482,078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363636"/>
                          </a:solidFill>
                        </a:defRPr>
                      </a:pPr>
                      <a:r>
                        <a:t>2.65%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1E2761"/>
                </a:solidFill>
                <a:latin typeface="Malgun Gothic"/>
              </a:defRPr>
            </a:pPr>
            <a:r>
              <a:t>추천 상권 내 최적의 창업 업종(아이템) 심층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363636"/>
                </a:solidFill>
                <a:latin typeface="Malgun Gothic"/>
              </a:defRPr>
            </a:pPr>
            <a:r>
              <a:t>해당 상권에서는 대형 시설보다 '1인 맞춤 생활밀착형 서비스업'의 폐업 리스크가 가장 낮게 나타납니다.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645920"/>
          <a:ext cx="8229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Part 4. 결론 및 비즈니스 액션플랜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000" b="1">
                <a:solidFill>
                  <a:srgbClr val="F96167"/>
                </a:solidFill>
                <a:latin typeface="Malgun Gothic"/>
              </a:defRPr>
            </a:pPr>
            <a:r>
              <a:t>Conclusion &amp; Business Action Plan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1E2761"/>
                </a:solidFill>
                <a:latin typeface="Malgun Gothic"/>
              </a:defRPr>
            </a:pPr>
            <a:r>
              <a:t>인사이트 요약 (Key Findings)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>
                <a:solidFill>
                  <a:srgbClr val="1E2761"/>
                </a:solidFill>
                <a:latin typeface="Malgun Gothic"/>
              </a:defRPr>
            </a:pPr>
            <a:r>
              <a:t>1. 유동인구의 함정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363636"/>
                </a:solidFill>
                <a:latin typeface="Malgun Gothic"/>
              </a:defRPr>
            </a:pPr>
            <a:r>
              <a:t>유동인구 규모보다 실결제 매출액 방어가 상권 생존에 더 중요합니다.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>
                <a:solidFill>
                  <a:srgbClr val="1E2761"/>
                </a:solidFill>
                <a:latin typeface="Malgun Gothic"/>
              </a:defRPr>
            </a:pPr>
            <a:r>
              <a:t>2. 추천 상권 (Top 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363636"/>
                </a:solidFill>
                <a:latin typeface="Malgun Gothic"/>
              </a:defRPr>
            </a:pPr>
            <a:r>
              <a:t>서교동, 역삼1동, 문정2동, 가산동, 영등포동이 안정적인 창업 지역으로 분석되었습니다.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600" b="1">
                <a:solidFill>
                  <a:srgbClr val="1E2761"/>
                </a:solidFill>
                <a:latin typeface="Malgun Gothic"/>
              </a:defRPr>
            </a:pPr>
            <a:r>
              <a:t>3. 유망 창업 아이템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363636"/>
                </a:solidFill>
                <a:latin typeface="Malgun Gothic"/>
              </a:defRPr>
            </a:pPr>
            <a:r>
              <a:t>1인 맞춤 생활밀착형(반찬가게, 코인세탁소 등) 및 외식업이 폐업 리스크가 가장 낮습니다.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2400" b="1">
                <a:solidFill>
                  <a:srgbClr val="1E2761"/>
                </a:solidFill>
                <a:latin typeface="Malgun Gothic"/>
              </a:defRPr>
            </a:pPr>
            <a:r>
              <a:t>비즈니스 액션플랜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>
                <a:solidFill>
                  <a:srgbClr val="1E2761"/>
                </a:solidFill>
                <a:latin typeface="Malgun Gothic"/>
              </a:defRPr>
            </a:pPr>
            <a:r>
              <a:t>단기 액션: 1인가구 특화 저위험 결합 모델 창업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363636"/>
                </a:solidFill>
                <a:latin typeface="Malgun Gothic"/>
              </a:defRPr>
            </a:pPr>
            <a:r>
              <a:t>• 전략: '무인 반찬 자판기 + 코인세탁소'가 결합된 멀티숍 창업</a:t>
            </a:r>
            <a:br/>
            <a:r>
              <a:t>• 입지: 서교동, 역삼1동 등 핵심 상권의 이면도로 (임대료 약 30% 저렴)</a:t>
            </a:r>
            <a:br/>
            <a:r>
              <a:t>• 실행 주체: 예비 소상공인 창업자</a:t>
            </a:r>
            <a:br/>
            <a:r>
              <a:t>• KPI: 초기 창업 비용 15% 절감, 창업 후 1년 생존율 90% 확보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8229600" cy="1828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800" b="1">
                <a:solidFill>
                  <a:srgbClr val="F96167"/>
                </a:solidFill>
                <a:latin typeface="Malgun Gothic"/>
              </a:defRPr>
            </a:pPr>
            <a:r>
              <a:t>중장기 액션: 프랜차이즈 가맹본부의 1인 특화 상권 전략 출점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400" b="0">
                <a:solidFill>
                  <a:srgbClr val="363636"/>
                </a:solidFill>
                <a:latin typeface="Malgun Gothic"/>
              </a:defRPr>
            </a:pPr>
            <a:r>
              <a:t>• 전략: 마라탕, 소포장 보쌈 등 1인 타겟 외식 브랜드의 핵심 직영점 거점으로 가산동/서교동 선정</a:t>
            </a:r>
            <a:br/>
            <a:r>
              <a:t>• 액션: 오피스타운 런치 세트와 야간 배달 세트 이원화 운영</a:t>
            </a:r>
            <a:br/>
            <a:r>
              <a:t>• 실행 주체: F&amp;B 프랜차이즈 점포개발팀</a:t>
            </a:r>
            <a:br/>
            <a:r>
              <a:t>• KPI: 타 상권 가맹점 대비 평균 월매출 25% 상회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4800" b="1">
                <a:solidFill>
                  <a:srgbClr val="FFFFFF"/>
                </a:solidFill>
                <a:latin typeface="Malgun Gothic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2400" b="1">
                <a:solidFill>
                  <a:srgbClr val="F9E795"/>
                </a:solidFill>
                <a:latin typeface="Malgun Gothic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